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8288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  <a:latin typeface="Segoe UI"/>
              </a:defRPr>
            </a:pPr>
            <a:r>
              <a:t>GRUPO CDM • DEPARTAMENTO DE SISTEMAS E INFRAESTRUCTURA TI</a:t>
            </a:r>
          </a:p>
          <a:p>
            <a:pPr>
              <a:spcBef>
                <a:spcPts val="1400"/>
              </a:spcBef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Manual de Operación y Administración</a:t>
            </a:r>
          </a:p>
          <a:p>
            <a:pPr>
              <a:spcBef>
                <a:spcPts val="800"/>
              </a:spcBef>
              <a:defRPr sz="2000">
                <a:solidFill>
                  <a:srgbClr val="94A3B8"/>
                </a:solidFill>
                <a:latin typeface="Segoe UI"/>
              </a:defRPr>
            </a:pPr>
            <a:r>
              <a:t>Guía Práctica para Administradores de la Mesa de Ayuda TI</a:t>
            </a:r>
          </a:p>
          <a:p>
            <a:pPr>
              <a:spcBef>
                <a:spcPts val="2000"/>
              </a:spcBef>
              <a:defRPr sz="1300" b="1">
                <a:solidFill>
                  <a:srgbClr val="FCA5A5"/>
                </a:solidFill>
                <a:latin typeface="Segoe UI"/>
              </a:defRPr>
            </a:pPr>
            <a:r>
              <a:t>Creado por Leonardo Mena Landa para el Departamento de Sistemas de Grupo CDM.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Gestión centralizada de incidencias, asignación técnica, sincronización Web-Discord, métricas SLA y reportería en Excel.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ACCESO AL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Tutorial 1: Acceso e Inicio de Sesión con Rol de Administrador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1. Navegar a la 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Ingresa a https://sistema-ticketscdm.onrender.com/ (o localhost:3000).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2. Correo de Administrador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Ingresa con tu correo institucional que tiene rol admin (ej. sistemas@grupocdm.mx).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3. Contraseña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Escribe tu contraseña autorizada para el departamento de sistemas.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Resolver Captcha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Realiza la suma matemática visual para autenticarte y entrar al panel maestro.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286000"/>
            <a:ext cx="10728655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39572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📷 </a:t>
            </a:r>
            <a:r>
              <a:rPr sz="1050" b="1">
                <a:solidFill>
                  <a:srgbClr val="DC2626"/>
                </a:solidFill>
                <a:latin typeface="Segoe UI"/>
              </a:rPr>
              <a:t>PEGAR AQUÍ CAPTURA DE PANTALLA: LOGIN CON ROL DE ADMINISTRADOR</a:t>
            </a:r>
          </a:p>
          <a:p>
            <a:pPr algn="l">
              <a:defRPr sz="900" i="1">
                <a:solidFill>
                  <a:srgbClr val="475569"/>
                </a:solidFill>
                <a:latin typeface="Segoe UI"/>
              </a:defRPr>
            </a:pPr>
            <a:r>
              <a:t>👉 Evidencia a capturar: Captura de pantalla de Login con credenciales de administrador y captcha resuelto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31920"/>
            <a:ext cx="7985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ESPACIO HORIZONTAL AMPLIO PARA EVIDENCIA DEL PANEL DE ADMINISTRACIÓN (16:9)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Haz clic en este recuadro y presiona [Ctrl + V] para que tu captura se vea completa y con texto legible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CENTRO DE MANDO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Tutorial 2: Conociendo el Panel Central de Gestión de Tickets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1. Tarjetas de conteo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Supervisa en tiempo real: Total de tickets, Nuevos, En proceso, Pendientes y Resueltos.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2. Tabla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Visualiza las solicitudes de todas las áreas con folio, solicitante, prioridad y fecha.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3. Barra de herramientas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Accede a las pestañas superiores: Tickets, Dashboards / Métricas, Usuarios y Configuración.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Distintivos visuales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Identifica rápidamente citas programadas (azul), tickets urgentes (rojo) y en atención (amarillo).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286000"/>
            <a:ext cx="10728655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39572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📷 </a:t>
            </a:r>
            <a:r>
              <a:rPr sz="1050" b="1">
                <a:solidFill>
                  <a:srgbClr val="DC2626"/>
                </a:solidFill>
                <a:latin typeface="Segoe UI"/>
              </a:rPr>
              <a:t>PEGAR AQUÍ CAPTURA DE PANTALLA: PANEL DE CONTROL DE ADMINISTRADOR (DASHBOARD)</a:t>
            </a:r>
          </a:p>
          <a:p>
            <a:pPr algn="l">
              <a:defRPr sz="900" i="1">
                <a:solidFill>
                  <a:srgbClr val="475569"/>
                </a:solidFill>
                <a:latin typeface="Segoe UI"/>
              </a:defRPr>
            </a:pPr>
            <a:r>
              <a:t>👉 Evidencia a capturar: Captura del panel principal de administrador mostrando tarjetas de conteo arriba y la tabla global de tickets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31920"/>
            <a:ext cx="7985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ESPACIO HORIZONTAL AMPLIO PARA EVIDENCIA DEL PANEL DE ADMINISTRACIÓN (16:9)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Haz clic en este recuadro y presiona [Ctrl + V] para que tu captura se vea completa y con texto legible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GESTIÓN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Tutorial 3: Filtros Multi-Estatus, Búsqueda y Ordenamiento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1. Clic para deseleccionar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Haz clic sobre las etiquetas de estatus arriba de la tabla para ocultar o mostrar solicitudes.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2. Filtros combinados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Mantén activos simultáneamente 'Nuevos' y 'En proceso' para enfocarte en el trabajo pendiente.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3. Búsqueda instantánea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Escribe en la barra de búsqueda para filtrar al instante por folio (#), solicitante o problema.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Botón Mostrar todos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Restablece la vista completa de la tabla en un solo clic con el botón 'Mostrar todos'.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286000"/>
            <a:ext cx="10728655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39572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📷 </a:t>
            </a:r>
            <a:r>
              <a:rPr sz="1050" b="1">
                <a:solidFill>
                  <a:srgbClr val="DC2626"/>
                </a:solidFill>
                <a:latin typeface="Segoe UI"/>
              </a:rPr>
              <a:t>PEGAR AQUÍ CAPTURA DE PANTALLA: FILTROS MULTI-ESTATUS Y BÚSQUEDA ACTIVA</a:t>
            </a:r>
          </a:p>
          <a:p>
            <a:pPr algn="l">
              <a:defRPr sz="900" i="1">
                <a:solidFill>
                  <a:srgbClr val="475569"/>
                </a:solidFill>
                <a:latin typeface="Segoe UI"/>
              </a:defRPr>
            </a:pPr>
            <a:r>
              <a:t>👉 Evidencia a capturar: Captura de la barra de filtros combinados y del campo de búsqueda filtrando tickets en tiempo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31920"/>
            <a:ext cx="7985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ESPACIO HORIZONTAL AMPLIO PARA EVIDENCIA DEL PANEL DE ADMINISTRACIÓN (16:9)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Haz clic en este recuadro y presiona [Ctrl + V] para que tu captura se vea completa y con texto legible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ATENCIÓN DE INCIDENCIAS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Tutorial 4: Asignación de Técnicos y Cambio a 'En Proceso'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1. Abrir detalle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Haz clic sobre el folio del ticket o el botón 'Ver Detalle' para entrar a la incidencia.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2. Asignar técnico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Indica el técnico en 'Atendido por' e ingresa los participantes de TI involucrados.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3. Pasar a 'En proceso'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Cambia el estatus a 'En proceso'; el sistema registrará la hora de inicio de atención.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Notificación automática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El sistema envía un correo al usuario y notifica en el hilo de Discord automáticamente.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286000"/>
            <a:ext cx="10728655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39572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📷 </a:t>
            </a:r>
            <a:r>
              <a:rPr sz="1050" b="1">
                <a:solidFill>
                  <a:srgbClr val="DC2626"/>
                </a:solidFill>
                <a:latin typeface="Segoe UI"/>
              </a:rPr>
              <a:t>PEGAR AQUÍ CAPTURA DE PANTALLA: MODAL DE DETALLE Y ASIGNACIÓN DE TÉCNICO</a:t>
            </a:r>
          </a:p>
          <a:p>
            <a:pPr algn="l">
              <a:defRPr sz="900" i="1">
                <a:solidFill>
                  <a:srgbClr val="475569"/>
                </a:solidFill>
                <a:latin typeface="Segoe UI"/>
              </a:defRPr>
            </a:pPr>
            <a:r>
              <a:t>👉 Evidencia a capturar: Captura del modal o formulario asignando al técnico responsable y actualizando el estatus a En Proceso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31920"/>
            <a:ext cx="7985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ESPACIO HORIZONTAL AMPLIO PARA EVIDENCIA DEL PANEL DE ADMINISTRACIÓN (16:9)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Haz clic en este recuadro y presiona [Ctrl + V] para que tu captura se vea completa y con texto legible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ATENCIÓN PROGRAMADA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Tutorial 5: Programación de Citas y Manejo de Tickets Pendientes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1. Cuándo usar 'Pendiente'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Aplícalo cuando requieras compras, refacciones o agendar una cita presencial con el usuario.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2. Agendar cita formal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Selecciona fecha y hora en 'Cita / Fecha programada' para convenir la atención técnica.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3. Motivo de la espera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Redacta el motivo (ej. 'Revisión presencial acordada para diagnóstico de hardware').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Distintivo en panel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El ticket mostrará un distintivo azul '📅 Cita Agendada' en el panel del administrador y del usuario.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286000"/>
            <a:ext cx="10728655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39572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📷 </a:t>
            </a:r>
            <a:r>
              <a:rPr sz="1050" b="1">
                <a:solidFill>
                  <a:srgbClr val="DC2626"/>
                </a:solidFill>
                <a:latin typeface="Segoe UI"/>
              </a:rPr>
              <a:t>PEGAR AQUÍ CAPTURA DE PANTALLA: FORMULARIO DE CITAS Y MOTIVO DE PENDIENTE</a:t>
            </a:r>
          </a:p>
          <a:p>
            <a:pPr algn="l">
              <a:defRPr sz="900" i="1">
                <a:solidFill>
                  <a:srgbClr val="475569"/>
                </a:solidFill>
                <a:latin typeface="Segoe UI"/>
              </a:defRPr>
            </a:pPr>
            <a:r>
              <a:t>👉 Evidencia a capturar: Captura del formulario completando la fecha y hora programada de la cita junto con el motivo de espera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31920"/>
            <a:ext cx="7985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ESPACIO HORIZONTAL AMPLIO PARA EVIDENCIA DEL PANEL DE ADMINISTRACIÓN (16:9)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Haz clic en este recuadro y presiona [Ctrl + V] para que tu captura se vea completa y con texto legible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COMUNICACIÓN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Tutorial 6: Soporte y Chat en Tiempo Real desde la Web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1. Sección de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En la parte inferior de la vista del ticket encontrarás el módulo de chat en tiempo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2. Enviar indicaciones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Escribe instrucciones de reinicio, validación de cables o solicitud de datos al colaborador.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3. Adjuntar evidencias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Tanto tú como el usuario pueden subir capturas de pantalla o fotos del hardware.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Sincronización Socket.IO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Los mensajes aparecen al instante sin necesidad de recargar la página del navegador.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286000"/>
            <a:ext cx="10728655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39572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📷 </a:t>
            </a:r>
            <a:r>
              <a:rPr sz="1050" b="1">
                <a:solidFill>
                  <a:srgbClr val="DC2626"/>
                </a:solidFill>
                <a:latin typeface="Segoe UI"/>
              </a:rPr>
              <a:t>PEGAR AQUÍ CAPTURA DE PANTALLA: MÓDULO DE CHAT WEB EN TIEMPO REAL</a:t>
            </a:r>
          </a:p>
          <a:p>
            <a:pPr algn="l">
              <a:defRPr sz="900" i="1">
                <a:solidFill>
                  <a:srgbClr val="475569"/>
                </a:solidFill>
                <a:latin typeface="Segoe UI"/>
              </a:defRPr>
            </a:pPr>
            <a:r>
              <a:t>👉 Evidencia a capturar: Captura del panel de chat dentro del ticket mostrando la conversación fluida entre el administrador y el colaborador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31920"/>
            <a:ext cx="7985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ESPACIO HORIZONTAL AMPLIO PARA EVIDENCIA DEL PANEL DE ADMINISTRACIÓN (16:9)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Haz clic en este recuadro y presiona [Ctrl + V] para que tu captura se vea completa y con texto legible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INTEGRACIÓN DISCORD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Tutorial 7: Atención y Sincronización en Discord (#tickets-soporte)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1. Canal #tickets-soporte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En el servidor de Grupo CDM, cada ticket genera su propio hilo: ticket-[ID]-[titulo].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2. Responder desde Discord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Cualquier texto o foto que mandes en Discord se publicará automáticamente en la Web.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3. Archivado automático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Al resolver el ticket, el bot archiva el hilo para mantener limpio el canal principal.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Consultar archivados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Haz clic en el ícono de carrete de hilo (🧵) arriba a la derecha y ve a la pestaña 'Archivados'.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286000"/>
            <a:ext cx="10728655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39572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📷 </a:t>
            </a:r>
            <a:r>
              <a:rPr sz="1050" b="1">
                <a:solidFill>
                  <a:srgbClr val="DC2626"/>
                </a:solidFill>
                <a:latin typeface="Segoe UI"/>
              </a:rPr>
              <a:t>PEGAR AQUÍ CAPTURA DE PANTALLA: CANAL DE DISCORD E HILOS DE SOPORTE</a:t>
            </a:r>
          </a:p>
          <a:p>
            <a:pPr algn="l">
              <a:defRPr sz="900" i="1">
                <a:solidFill>
                  <a:srgbClr val="475569"/>
                </a:solidFill>
                <a:latin typeface="Segoe UI"/>
              </a:defRPr>
            </a:pPr>
            <a:r>
              <a:t>👉 Evidencia a capturar: Captura de Discord mostrando el canal #tickets-soporte, el hilo del ticket y el botón de carrete (🧵)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31920"/>
            <a:ext cx="7985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ESPACIO HORIZONTAL AMPLIO PARA EVIDENCIA DEL PANEL DE ADMINISTRACIÓN (16:9)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Haz clic en este recuadro y presiona [Ctrl + V] para que tu captura se vea completa y con texto legible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CIERRE DE INCIDENCIAS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Tutorial 8: Procedimiento Formal de Resolución y Cierre Técnico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1. Marcar 'Resuelto'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Al solucionar el problema, selecciona el estatus 'Resuelto' en el detalle del ticket.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2. Datos de solución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Ingresa el 'Técnico que resolvió', la 'Categoría de resolución' y el diagnóstico técnico.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3. Reemplazo de hardware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Si cambiaste una pieza o PC, registra el tipo, modelo y número de serie para inventario.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Correo de cierre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El sistema genera y envía automáticamente el correo formal con la solución al colaborador.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286000"/>
            <a:ext cx="10728655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39572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📷 </a:t>
            </a:r>
            <a:r>
              <a:rPr sz="1050" b="1">
                <a:solidFill>
                  <a:srgbClr val="DC2626"/>
                </a:solidFill>
                <a:latin typeface="Segoe UI"/>
              </a:rPr>
              <a:t>PEGAR AQUÍ CAPTURA DE PANTALLA: FORMULARIO DE RESOLUCIÓN Y CIERRE DE TICKET</a:t>
            </a:r>
          </a:p>
          <a:p>
            <a:pPr algn="l">
              <a:defRPr sz="900" i="1">
                <a:solidFill>
                  <a:srgbClr val="475569"/>
                </a:solidFill>
                <a:latin typeface="Segoe UI"/>
              </a:defRPr>
            </a:pPr>
            <a:r>
              <a:t>👉 Evidencia a capturar: Captura del formulario de resolución con los campos de causa raíz, técnico y comentario técnico de solución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31920"/>
            <a:ext cx="7985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ESPACIO HORIZONTAL AMPLIO PARA EVIDENCIA DEL PANEL DE ADMINISTRACIÓN (16:9)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Haz clic en este recuadro y presiona [Ctrl + V] para que tu captura se vea completa y con texto legible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REPORTERÍA Y 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Tutorial 9: Dashboards de Analíticas y Reporte Ejecutivo en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1. Ir a 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Haz clic en 'Dashboards / Métricas' en la barra superior para entrar al centro analítico.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2. Indicadores SLA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Consulta el porcentaje de cumplimiento de SLA, tiempo promedio de respuesta y velocidad.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3. Gráficas por área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Analiza qué departamentos o categorías presentan el mayor volumen de reportes técnicos.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Descargar 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Haz clic en 'Descargar Reporte Excel' para obtener el libro corporativo estilizado con métricas.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286000"/>
            <a:ext cx="10728655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39572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📷 </a:t>
            </a:r>
            <a:r>
              <a:rPr sz="1050" b="1">
                <a:solidFill>
                  <a:srgbClr val="DC2626"/>
                </a:solidFill>
                <a:latin typeface="Segoe UI"/>
              </a:rPr>
              <a:t>PEGAR AQUÍ CAPTURA DE PANTALLA: MÓDULO DE DASHBOARDS Y DESCARGA DE EXCEL</a:t>
            </a:r>
          </a:p>
          <a:p>
            <a:pPr algn="l">
              <a:defRPr sz="900" i="1">
                <a:solidFill>
                  <a:srgbClr val="475569"/>
                </a:solidFill>
                <a:latin typeface="Segoe UI"/>
              </a:defRPr>
            </a:pPr>
            <a:r>
              <a:t>👉 Evidencia a capturar: Captura de la pantalla de Dashboards con gráficas de rendimiento y el botón de descarga del Reporte Excel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31920"/>
            <a:ext cx="7985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ESPACIO HORIZONTAL AMPLIO PARA EVIDENCIA DEL PANEL DE ADMINISTRACIÓN (16:9)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Haz clic en este recuadro y presiona [Ctrl + V] para que tu captura se vea completa y con texto legible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GESTIÓN DE CUENTAS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Tutorial 10: Padrón de Colaboradores e Inventario de Equipos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1. Módulo de Usuarios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Entra a la sección de 'Usuarios' para consultar la lista de empleados registrados.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2. Alta de personal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Registra nuevos ingresos asignando nombre, correo corporativo, puesto y rol.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3. Inventario asignado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Registra la laptop, PC, monitor o periférico asignado a cada colaborador (marca, serie).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Reseteo de clave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Actualiza contraseñas de acceso o aplica baja lógica (soft-delete) para conservar historial.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286000"/>
            <a:ext cx="10728655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39572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📷 </a:t>
            </a:r>
            <a:r>
              <a:rPr sz="1050" b="1">
                <a:solidFill>
                  <a:srgbClr val="DC2626"/>
                </a:solidFill>
                <a:latin typeface="Segoe UI"/>
              </a:rPr>
              <a:t>PEGAR AQUÍ CAPTURA DE PANTALLA: PANEL DE USUARIOS E INVENTARIO DE EQUIPOS</a:t>
            </a:r>
          </a:p>
          <a:p>
            <a:pPr algn="l">
              <a:defRPr sz="900" i="1">
                <a:solidFill>
                  <a:srgbClr val="475569"/>
                </a:solidFill>
                <a:latin typeface="Segoe UI"/>
              </a:defRPr>
            </a:pPr>
            <a:r>
              <a:t>👉 Evidencia a capturar: Captura del panel de gestión de colaboradores y asignación de hardware / computadoras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31920"/>
            <a:ext cx="7985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ESPACIO HORIZONTAL AMPLIO PARA EVIDENCIA DEL PANEL DE ADMINISTRACIÓN (16:9)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Haz clic en este recuadro y presiona [Ctrl + V] para que tu captura se vea completa y con texto legible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C2626"/>
                </a:solidFill>
                <a:latin typeface="Segoe UI"/>
              </a:defRPr>
            </a:pPr>
            <a:r>
              <a:t>GRUPO CDM • MESA DE AYUDA TI  |  CONFIGURACIÓN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Tutorial 11: Configuración SMTP, Plantillas y Base de Conocimiento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1. Servidor SMTP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Verifica la conexión al relay institucional en mail.grupo-cdm.mx a través del puerto 2525.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57701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5173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2. Plantillas de correo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7701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Personaliza asuntos y mensajes automáticos usando variables dinámicas ({id}, {usuario}).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4427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74155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1627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3. Guías Rápidas (FAQ)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4155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Crea y actualiza artículos de autoservicio para resolver dudas frecuentes de los usuarios.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0881" y="1051560"/>
            <a:ext cx="2579293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90609" y="1161288"/>
            <a:ext cx="292608" cy="29260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8081" y="1124712"/>
            <a:ext cx="204894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4. Tolerancia de alerta SLA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0609" y="1490472"/>
            <a:ext cx="235983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475569"/>
                </a:solidFill>
                <a:latin typeface="Segoe UI"/>
              </a:defRPr>
            </a:pPr>
            <a:r>
              <a:t>Ajusta el margen de alerta preventiva para tickets que se aproximan a su tiempo límite.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286000"/>
            <a:ext cx="10728655" cy="4133087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2395728"/>
            <a:ext cx="101800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📷 </a:t>
            </a:r>
            <a:r>
              <a:rPr sz="1050" b="1">
                <a:solidFill>
                  <a:srgbClr val="DC2626"/>
                </a:solidFill>
                <a:latin typeface="Segoe UI"/>
              </a:rPr>
              <a:t>PEGAR AQUÍ CAPTURA DE PANTALLA: PANEL DE CONFIGURACIÓN DE CORREO Y PLANTILLAS</a:t>
            </a:r>
          </a:p>
          <a:p>
            <a:pPr algn="l">
              <a:defRPr sz="900" i="1">
                <a:solidFill>
                  <a:srgbClr val="475569"/>
                </a:solidFill>
                <a:latin typeface="Segoe UI"/>
              </a:defRPr>
            </a:pPr>
            <a:r>
              <a:t>👉 Evidencia a capturar: Captura del panel de configuración de servidor de correo, plantillas y guías de autoservicio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31920"/>
            <a:ext cx="7985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BD5E1"/>
                </a:solidFill>
                <a:latin typeface="Segoe UI"/>
              </a:defRPr>
            </a:pPr>
            <a:r>
              <a:t>ESPACIO HORIZONTAL AMPLIO PARA EVIDENCIA DEL PANEL DE ADMINISTRACIÓN (16:9)</a:t>
            </a:r>
          </a:p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Haz clic en este recuadro y presiona [Ctrl + V] para que tu captura se vea completa y con texto legible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556248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Sistema de Tickets TI • Creado por Leonardo Mena Landa para el Departamento de Sistemas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55624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