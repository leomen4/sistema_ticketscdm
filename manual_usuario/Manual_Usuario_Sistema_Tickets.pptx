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300" b="1">
                <a:solidFill>
                  <a:srgbClr val="DC2626"/>
                </a:solidFill>
              </a:defRPr>
            </a:pPr>
            <a:r>
              <a:t>GRUPO CDM • MESA DE AYUDA Y SOPORTE TI</a:t>
            </a:r>
          </a:p>
          <a:p>
            <a:pPr>
              <a:spcAft>
                <a:spcPts val="1000"/>
              </a:spcAft>
              <a:defRPr sz="3800" b="1">
                <a:solidFill>
                  <a:srgbClr val="FFFFFF"/>
                </a:solidFill>
              </a:defRPr>
            </a:pPr>
            <a:r>
              <a:t>Sistema de Gestión de Tickets</a:t>
            </a:r>
          </a:p>
          <a:p>
            <a:pPr>
              <a:spcAft>
                <a:spcPts val="2000"/>
              </a:spcAft>
              <a:defRPr sz="2200">
                <a:solidFill>
                  <a:srgbClr val="CBD5E1"/>
                </a:solidFill>
              </a:defRPr>
            </a:pPr>
            <a:r>
              <a:t>Manual y Guía Rápida para Colaboradores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Aprende a reportar incidencias, consultar el estatus de tus solicitudes en tiempo real y comunicarte ágilmente con el equipo de Sistemas TI.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5120640"/>
            <a:ext cx="996696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52120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2E8F0"/>
                </a:solidFill>
              </a:defRPr>
            </a:pPr>
            <a:r>
              <a:t>📌 Soporte Oficial: Portal Web &amp; Integración Discord | Departamento de Sistemas TI | 2026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Garantizando una atención ordenada, tiempos de respuesta medidos y solución efectiva a tus reportes.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MESA DE AYUDA TI • GRUPO CDM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¿Qué es el Sistema de Tickets y qué beneficios te brinda?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64992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364992" cy="10972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290779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1E293B"/>
                </a:solidFill>
              </a:defRPr>
            </a:pPr>
            <a:r>
              <a:t>🎯 Folio Único de Seguimiento</a:t>
            </a:r>
          </a:p>
          <a:p>
            <a:pPr>
              <a:lnSpc>
                <a:spcPct val="130000"/>
              </a:lnSpc>
              <a:spcAft>
                <a:spcPts val="1400"/>
              </a:spcAft>
              <a:defRPr sz="1200">
                <a:solidFill>
                  <a:srgbClr val="475569"/>
                </a:solidFill>
              </a:defRPr>
            </a:pPr>
            <a:r>
              <a:t>Cada solicitud genera un número de ticket único (ej. #42). Ya no hay peticiones perdidas por pasillo, mensajes sueltos o llamadas olvidadas.</a:t>
            </a:r>
          </a:p>
          <a:p>
            <a:pPr>
              <a:defRPr sz="1100" i="1">
                <a:solidFill>
                  <a:srgbClr val="94A3B8"/>
                </a:solidFill>
              </a:defRPr>
            </a:pPr>
            <a:r>
              <a:t>💡 Ideal para: Reportar fallas de hardware, software, red, telefonía o solicitud de accesos.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7" y="1645920"/>
            <a:ext cx="3364992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7" y="1645920"/>
            <a:ext cx="3364992" cy="109728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965960"/>
            <a:ext cx="290779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1E293B"/>
                </a:solidFill>
              </a:defRPr>
            </a:pPr>
            <a:r>
              <a:t>⏱️ Tiempos de Atención Garantizados</a:t>
            </a:r>
          </a:p>
          <a:p>
            <a:pPr>
              <a:lnSpc>
                <a:spcPct val="130000"/>
              </a:lnSpc>
              <a:spcAft>
                <a:spcPts val="1400"/>
              </a:spcAft>
              <a:defRPr sz="1200">
                <a:solidFill>
                  <a:srgbClr val="475569"/>
                </a:solidFill>
              </a:defRPr>
            </a:pPr>
            <a:r>
              <a:t>Tus reportes cuentan con niveles de servicio (SLA) cronometrados. Puedes saber exactamente quién está a cargo de tu solicitud y el tiempo que toma.</a:t>
            </a:r>
          </a:p>
          <a:p>
            <a:pPr>
              <a:defRPr sz="1100" i="1">
                <a:solidFill>
                  <a:srgbClr val="94A3B8"/>
                </a:solidFill>
              </a:defRPr>
            </a:pPr>
            <a:r>
              <a:t>💡 Transparencia total: Conoce los avances y bitácora técnica de cada especialista asignado.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645920"/>
            <a:ext cx="3364992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645920"/>
            <a:ext cx="3364992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1896" y="1965960"/>
            <a:ext cx="290779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1E293B"/>
                </a:solidFill>
              </a:defRPr>
            </a:pPr>
            <a:r>
              <a:t>🔔 Alertas y Notificaciones en Vivo</a:t>
            </a:r>
          </a:p>
          <a:p>
            <a:pPr>
              <a:lnSpc>
                <a:spcPct val="130000"/>
              </a:lnSpc>
              <a:spcAft>
                <a:spcPts val="1400"/>
              </a:spcAft>
              <a:defRPr sz="1200">
                <a:solidFill>
                  <a:srgbClr val="475569"/>
                </a:solidFill>
              </a:defRPr>
            </a:pPr>
            <a:r>
              <a:t>Recibirás avisos por correo institucional y en Discord en cuanto un técnico comience tu reporte, te envíe un mensaje o lo marque como resuelto.</a:t>
            </a:r>
          </a:p>
          <a:p>
            <a:pPr>
              <a:defRPr sz="1100" i="1">
                <a:solidFill>
                  <a:srgbClr val="94A3B8"/>
                </a:solidFill>
              </a:defRPr>
            </a:pPr>
            <a:r>
              <a:t>💡 Siempre informado: Consulta tu avance sin tener que buscar presencialmente a TI.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806440"/>
            <a:ext cx="1072865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870448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730A3"/>
                </a:solidFill>
              </a:defRPr>
            </a:pPr>
            <a:r>
              <a:t>✨ Recuerda: Toda solicitud formal de soporte TI debe contar con su ticket registrado para ser atendida conforme a prioridades institucionales.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MESA DE AYUDA TI • GRUPO CDM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Paso 1: Acceso e Inicio de Sesión al Portal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8580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6309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E293B"/>
                </a:solidFill>
              </a:defRPr>
            </a:pPr>
            <a:r>
              <a:t>🔑 Datos requeridos para ingresar</a:t>
            </a:r>
          </a:p>
          <a:p>
            <a:pPr>
              <a:spcAft>
                <a:spcPts val="800"/>
              </a:spcAft>
              <a:defRPr b="1" sz="1250">
                <a:solidFill>
                  <a:srgbClr val="2563EB"/>
                </a:solidFill>
              </a:defRPr>
            </a:pPr>
            <a:r>
              <a:t>• 1. Dirección Web: </a:t>
            </a:r>
            <a:r>
              <a:rPr b="0">
                <a:solidFill>
                  <a:srgbClr val="475569"/>
                </a:solidFill>
              </a:rPr>
              <a:t>Abre tu navegador de preferencia e ingresa al enlace oficial proporcionado por Sistemas TI.</a:t>
            </a:r>
          </a:p>
          <a:p>
            <a:pPr>
              <a:spcAft>
                <a:spcPts val="800"/>
              </a:spcAft>
              <a:defRPr b="1" sz="1250">
                <a:solidFill>
                  <a:srgbClr val="2563EB"/>
                </a:solidFill>
              </a:defRPr>
            </a:pPr>
            <a:r>
              <a:t>• 2. Correo Institucional: </a:t>
            </a:r>
            <a:r>
              <a:rPr b="0">
                <a:solidFill>
                  <a:srgbClr val="475569"/>
                </a:solidFill>
              </a:rPr>
              <a:t>Tu cuenta asignada corporativa (ej. usuario@grupo-cdm.mx).</a:t>
            </a:r>
          </a:p>
          <a:p>
            <a:pPr>
              <a:spcAft>
                <a:spcPts val="800"/>
              </a:spcAft>
              <a:defRPr b="1" sz="1250">
                <a:solidFill>
                  <a:srgbClr val="2563EB"/>
                </a:solidFill>
              </a:defRPr>
            </a:pPr>
            <a:r>
              <a:t>• 3. Contraseña: </a:t>
            </a:r>
            <a:r>
              <a:rPr b="0">
                <a:solidFill>
                  <a:srgbClr val="475569"/>
                </a:solidFill>
              </a:rPr>
              <a:t>Tu clave de acceso inicial asignada por TI (te recomendamos conservarla en un lugar seguro).</a:t>
            </a:r>
          </a:p>
          <a:p>
            <a:pPr>
              <a:spcAft>
                <a:spcPts val="800"/>
              </a:spcAft>
              <a:defRPr b="1" sz="1250">
                <a:solidFill>
                  <a:srgbClr val="2563EB"/>
                </a:solidFill>
              </a:defRPr>
            </a:pPr>
            <a:r>
              <a:t>• 4. Cierre automático por inactividad: </a:t>
            </a:r>
            <a:r>
              <a:rPr b="0">
                <a:solidFill>
                  <a:srgbClr val="475569"/>
                </a:solidFill>
              </a:rPr>
              <a:t>Por seguridad de tu información y equipos, el sistema cierra sesión automáticamente si transcurren 5 minutos sin actividad.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645920"/>
            <a:ext cx="3639312" cy="3977639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DC2626"/>
                </a:solidFill>
              </a:defRPr>
            </a:pPr>
            <a:r>
              <a:t>🛡️ Seguridad y Buenas Prácticas</a:t>
            </a:r>
          </a:p>
          <a:p>
            <a:pPr>
              <a:spcAft>
                <a:spcPts val="1000"/>
              </a:spcAft>
              <a:defRPr sz="1150">
                <a:solidFill>
                  <a:srgbClr val="7F1D1D"/>
                </a:solidFill>
              </a:defRPr>
            </a:pPr>
            <a:r>
              <a:t>✔ Tu cuenta es personal e intransferible.</a:t>
            </a:r>
          </a:p>
          <a:p>
            <a:pPr>
              <a:spcAft>
                <a:spcPts val="1000"/>
              </a:spcAft>
              <a:defRPr sz="1150">
                <a:solidFill>
                  <a:srgbClr val="7F1D1D"/>
                </a:solidFill>
              </a:defRPr>
            </a:pPr>
            <a:r>
              <a:t>✔ Los reportes que levantes quedan registrados con tu nombre y puesto corporativo.</a:t>
            </a:r>
          </a:p>
          <a:p>
            <a:pPr>
              <a:spcAft>
                <a:spcPts val="1000"/>
              </a:spcAft>
              <a:defRPr sz="1150">
                <a:solidFill>
                  <a:srgbClr val="7F1D1D"/>
                </a:solidFill>
              </a:defRPr>
            </a:pPr>
            <a:r>
              <a:t>✔ Si olvidas tu contraseña o requieres restablecerla, contacta directamente al especialista TI de guardia.</a:t>
            </a:r>
          </a:p>
          <a:p>
            <a:pPr>
              <a:spcAft>
                <a:spcPts val="1000"/>
              </a:spcAft>
              <a:defRPr sz="1150">
                <a:solidFill>
                  <a:srgbClr val="7F1D1D"/>
                </a:solidFill>
              </a:defRPr>
            </a:pPr>
            <a:r>
              <a:t>✔ Al terminar tu turno o alejarte de tu computadora, te sugerimos cerrar sesión manualmente con el botón 'Salir'.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806440"/>
            <a:ext cx="10728655" cy="6400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978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E293B"/>
                </a:solidFill>
              </a:defRPr>
            </a:pPr>
            <a:r>
              <a:t>💡 Tip: Puedes agregar el enlace a los Marcadores o Favoritos de tu navegador para acceder con un solo clic todos los días.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MESA DE AYUDA TI • GRUPO CDM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Paso 2: Cómo Levantar un Ticket de Soporte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23744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523744" cy="914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874519"/>
            <a:ext cx="2194560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E293B"/>
                </a:solidFill>
              </a:defRPr>
            </a:pPr>
            <a:r>
              <a:t>1. Título Descriptivo</a:t>
            </a:r>
          </a:p>
          <a:p>
            <a:pPr>
              <a:lnSpc>
                <a:spcPct val="125000"/>
              </a:lnSpc>
              <a:defRPr sz="1150">
                <a:solidFill>
                  <a:srgbClr val="475569"/>
                </a:solidFill>
              </a:defRPr>
            </a:pPr>
            <a:r>
              <a:t>Escribe una frase concreta de lo que ocurre.</a:t>
            </a:r>
            <a:br/>
            <a:br/>
            <a:r>
              <a:t>Ejemplos:</a:t>
            </a:r>
            <a:br/>
            <a:r>
              <a:t>• 'Sin conexión a internet en equipo de cobranza'</a:t>
            </a:r>
            <a:br/>
            <a:r>
              <a:t>• 'Configurar acceso a carpeta compartida de proyectos'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1645920"/>
            <a:ext cx="2523744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65576" y="1645920"/>
            <a:ext cx="2523744" cy="9144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1874519"/>
            <a:ext cx="2194560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E293B"/>
                </a:solidFill>
              </a:defRPr>
            </a:pPr>
            <a:r>
              <a:t>2. Categoría y Tipo</a:t>
            </a:r>
          </a:p>
          <a:p>
            <a:pPr>
              <a:lnSpc>
                <a:spcPct val="125000"/>
              </a:lnSpc>
              <a:defRPr sz="1150">
                <a:solidFill>
                  <a:srgbClr val="475569"/>
                </a:solidFill>
              </a:defRPr>
            </a:pPr>
            <a:r>
              <a:t>Selecciona el área de la falla:</a:t>
            </a:r>
            <a:br/>
            <a:br/>
            <a:r>
              <a:t>• Hardware (PC, laptop, monitor)</a:t>
            </a:r>
            <a:br/>
            <a:r>
              <a:t>• Software (Excel, ERP, Windows)</a:t>
            </a:r>
            <a:br/>
            <a:r>
              <a:t>• Redes y Telefonía</a:t>
            </a:r>
            <a:br/>
            <a:r>
              <a:t>• Correo y Accesos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645920"/>
            <a:ext cx="2523744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645920"/>
            <a:ext cx="2523744" cy="9144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874519"/>
            <a:ext cx="2194560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E293B"/>
                </a:solidFill>
              </a:defRPr>
            </a:pPr>
            <a:r>
              <a:t>3. Descripción Detallada</a:t>
            </a:r>
          </a:p>
          <a:p>
            <a:pPr>
              <a:lnSpc>
                <a:spcPct val="125000"/>
              </a:lnSpc>
              <a:defRPr sz="1150">
                <a:solidFill>
                  <a:srgbClr val="475569"/>
                </a:solidFill>
              </a:defRPr>
            </a:pPr>
            <a:r>
              <a:t>Detalla el comportamiento:</a:t>
            </a:r>
            <a:br/>
            <a:br/>
            <a:r>
              <a:t>• ¿Qué estabas haciendo?</a:t>
            </a:r>
            <a:br/>
            <a:r>
              <a:t>• ¿Aparece algún código de error?</a:t>
            </a:r>
            <a:br/>
            <a:r>
              <a:t>• ¿Desde cuándo sucede?</a:t>
            </a:r>
            <a:br/>
            <a:r>
              <a:t>• ¿Es urgente por entrega crítica?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33688" y="1645920"/>
            <a:ext cx="2523744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33688" y="1645920"/>
            <a:ext cx="2523744" cy="91440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1874519"/>
            <a:ext cx="2194560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E293B"/>
                </a:solidFill>
              </a:defRPr>
            </a:pPr>
            <a:r>
              <a:t>4. Evidencia / Fotos</a:t>
            </a:r>
          </a:p>
          <a:p>
            <a:pPr>
              <a:lnSpc>
                <a:spcPct val="125000"/>
              </a:lnSpc>
              <a:defRPr sz="1150">
                <a:solidFill>
                  <a:srgbClr val="475569"/>
                </a:solidFill>
              </a:defRPr>
            </a:pPr>
            <a:r>
              <a:t>Adjunta imagen o foto:</a:t>
            </a:r>
            <a:br/>
            <a:br/>
            <a:r>
              <a:t>• Foto tomada con tu celular o captura de pantalla.</a:t>
            </a:r>
            <a:br/>
            <a:r>
              <a:t>• Ayuda al técnico a diagnosticar el problema sin demoras.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806440"/>
            <a:ext cx="10728655" cy="6400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978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65F46"/>
                </a:solidFill>
              </a:defRPr>
            </a:pPr>
            <a:r>
              <a:t>✅ Al enviar el formulario, el sistema genera tu Folio (#ID) inmediatamente y notifica en tiempo real a la guardia de Sistemas TI.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MESA DE AYUDA TI • GRUPO CDM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Paso 3: ¿Qué significa cada estatus de tu Ticket?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810512"/>
            <a:ext cx="2377440" cy="420624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NUEVO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773936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E293B"/>
                </a:solidFill>
              </a:defRPr>
            </a:pPr>
            <a:r>
              <a:t>🟦 Tu reporte ha sido registrado en la base de datos y está listo en la fila de asignación para que un especialista TI lo tome.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68880"/>
            <a:ext cx="10728655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2633472"/>
            <a:ext cx="2377440" cy="420624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EN PROCESO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596896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E293B"/>
                </a:solidFill>
              </a:defRPr>
            </a:pPr>
            <a:r>
              <a:t>🟨 Un especialista TI ya fue asignado y se encuentra trabajando activamente en el diagnóstico o resolución de tu falla.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91840"/>
            <a:ext cx="10728655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3456432"/>
            <a:ext cx="2377440" cy="420624"/>
          </a:xfrm>
          <a:prstGeom prst="round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PENDIENTE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419856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E293B"/>
                </a:solidFill>
              </a:defRPr>
            </a:pPr>
            <a:r>
              <a:t>🟥 El reporte requiere una refacción, compra de material, autorización o proceso externo para continuar con la solución.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14800"/>
            <a:ext cx="10728655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4279392"/>
            <a:ext cx="2377440" cy="420624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PENDIENTE POR CLIENTE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242816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E293B"/>
                </a:solidFill>
              </a:defRPr>
            </a:pPr>
            <a:r>
              <a:t>🟪 La medición de tiempo se pausa porque se acordó una cita con fecha y hora específica para visitarte o esperar tu disponibilidad.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937760"/>
            <a:ext cx="10728655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5102352"/>
            <a:ext cx="2377440" cy="420624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RESUELTO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5065776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E293B"/>
                </a:solidFill>
              </a:defRPr>
            </a:pPr>
            <a:r>
              <a:t>🟩 El ticket ha sido solucionado satisfactoriamente. Incluye el detalle de la solución técnica aplicada y el técnico responsable.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897880"/>
            <a:ext cx="10728655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961888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475569"/>
                </a:solidFill>
              </a:defRPr>
            </a:pPr>
            <a:r>
              <a:t>ℹ️ Cada cambio de estatus se refleja al instante en tu pantalla sin necesidad de refrescar la página web.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MESA DE AYUDA TI • GRUPO CDM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Paso 4: Monitoreo y Filtros Avanzados en tu Panel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21792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5669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293B"/>
                </a:solidFill>
              </a:defRPr>
            </a:pPr>
            <a:r>
              <a:t>✨ Nuevo Filtro de Deselección Rápida</a:t>
            </a:r>
          </a:p>
          <a:p>
            <a:pPr>
              <a:spcAft>
                <a:spcPts val="600"/>
              </a:spcAft>
              <a:defRPr b="1" sz="1150">
                <a:solidFill>
                  <a:srgbClr val="2563EB"/>
                </a:solidFill>
              </a:defRPr>
            </a:pPr>
            <a:r>
              <a:t>• Todos los tickets visibles al entrar: </a:t>
            </a:r>
            <a:r>
              <a:rPr b="0">
                <a:solidFill>
                  <a:srgbClr val="475569"/>
                </a:solidFill>
              </a:rPr>
              <a:t>Al ingresar a tu panel, verás todos tus reportes para que confirmes de inmediato si tu solicitud ya fue resuelta.</a:t>
            </a:r>
          </a:p>
          <a:p>
            <a:pPr>
              <a:spcAft>
                <a:spcPts val="600"/>
              </a:spcAft>
              <a:defRPr b="1" sz="1150">
                <a:solidFill>
                  <a:srgbClr val="2563EB"/>
                </a:solidFill>
              </a:defRPr>
            </a:pPr>
            <a:r>
              <a:t>• Oculta los estatus que no quieras ver: </a:t>
            </a:r>
            <a:r>
              <a:rPr b="0">
                <a:solidFill>
                  <a:srgbClr val="475569"/>
                </a:solidFill>
              </a:rPr>
              <a:t>Puedes desmarcar cualquier casilla para quitarla de la vista. Por ejemplo, desmarca [✔ Resuelto] para ver únicamente tus reportes pendientes o en proceso.</a:t>
            </a:r>
          </a:p>
          <a:p>
            <a:pPr>
              <a:spcAft>
                <a:spcPts val="600"/>
              </a:spcAft>
              <a:defRPr b="1" sz="1150">
                <a:solidFill>
                  <a:srgbClr val="2563EB"/>
                </a:solidFill>
              </a:defRPr>
            </a:pPr>
            <a:r>
              <a:t>• Botón 'Ocultar resueltos': </a:t>
            </a:r>
            <a:r>
              <a:rPr b="0">
                <a:solidFill>
                  <a:srgbClr val="475569"/>
                </a:solidFill>
              </a:rPr>
              <a:t>Con un solo clic oculta todos los tickets terminados y deja limpios los activos.</a:t>
            </a:r>
          </a:p>
          <a:p>
            <a:pPr>
              <a:spcAft>
                <a:spcPts val="600"/>
              </a:spcAft>
              <a:defRPr b="1" sz="1150">
                <a:solidFill>
                  <a:srgbClr val="2563EB"/>
                </a:solidFill>
              </a:defRPr>
            </a:pPr>
            <a:r>
              <a:t>• Botón 'Ver todos': </a:t>
            </a:r>
            <a:r>
              <a:rPr b="0">
                <a:solidFill>
                  <a:srgbClr val="475569"/>
                </a:solidFill>
              </a:rPr>
              <a:t>Restablece todas las casillas para consultar de nuevo el historial completo.</a:t>
            </a:r>
          </a:p>
          <a:p>
            <a:pPr>
              <a:spcAft>
                <a:spcPts val="600"/>
              </a:spcAft>
              <a:defRPr b="1" sz="1150">
                <a:solidFill>
                  <a:srgbClr val="2563EB"/>
                </a:solidFill>
              </a:defRPr>
            </a:pPr>
            <a:r>
              <a:t>• Buscador de texto dinámico: </a:t>
            </a:r>
            <a:r>
              <a:rPr b="0">
                <a:solidFill>
                  <a:srgbClr val="475569"/>
                </a:solidFill>
              </a:rPr>
              <a:t>Escribe el número de ticket (#42) o palabras clave del título para encontrarlo en milisegundos.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645920"/>
            <a:ext cx="4279392" cy="397763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828800"/>
            <a:ext cx="3840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293B"/>
                </a:solidFill>
              </a:defRPr>
            </a:pPr>
            <a:r>
              <a:t>🎛️ Vista de la Barra de Filtros</a:t>
            </a:r>
          </a:p>
          <a:p>
            <a:pPr>
              <a:spcAft>
                <a:spcPts val="800"/>
              </a:spcAft>
              <a:defRPr sz="1150" b="1">
                <a:solidFill>
                  <a:srgbClr val="0284C7"/>
                </a:solidFill>
              </a:defRPr>
            </a:pPr>
            <a:r>
              <a:t>[✔] Nuevo ticket (1)</a:t>
            </a:r>
          </a:p>
          <a:p>
            <a:pPr>
              <a:spcAft>
                <a:spcPts val="800"/>
              </a:spcAft>
              <a:defRPr sz="1150" b="1">
                <a:solidFill>
                  <a:srgbClr val="D97706"/>
                </a:solidFill>
              </a:defRPr>
            </a:pPr>
            <a:r>
              <a:t>[✔] En proceso (2)</a:t>
            </a:r>
          </a:p>
          <a:p>
            <a:pPr>
              <a:spcAft>
                <a:spcPts val="800"/>
              </a:spcAft>
              <a:defRPr sz="1150" b="1">
                <a:solidFill>
                  <a:srgbClr val="E11D48"/>
                </a:solidFill>
              </a:defRPr>
            </a:pPr>
            <a:r>
              <a:t>[✔] Pendiente (0)</a:t>
            </a:r>
          </a:p>
          <a:p>
            <a:pPr>
              <a:spcAft>
                <a:spcPts val="800"/>
              </a:spcAft>
              <a:defRPr sz="1150" b="1">
                <a:solidFill>
                  <a:srgbClr val="7C3AED"/>
                </a:solidFill>
              </a:defRPr>
            </a:pPr>
            <a:r>
              <a:t>[✔] Pendiente por cliente (1)</a:t>
            </a:r>
          </a:p>
          <a:p>
            <a:pPr>
              <a:spcAft>
                <a:spcPts val="800"/>
              </a:spcAft>
              <a:defRPr sz="1150" b="1">
                <a:solidFill>
                  <a:srgbClr val="059669"/>
                </a:solidFill>
              </a:defRPr>
            </a:pPr>
            <a:r>
              <a:t>[✔] Resuelto (5)  &lt;-- ¡Desmárcalo para ocultar!</a:t>
            </a:r>
          </a:p>
          <a:p>
            <a:br/>
            <a:pPr>
              <a:defRPr sz="1100" i="1">
                <a:solidFill>
                  <a:srgbClr val="475569"/>
                </a:solidFill>
              </a:defRPr>
            </a:pPr>
            <a:r>
              <a:t>💡 Al desmarcar una casilla, la etiqueta cambia a color gris con línea tachada y los tickets correspondientes se ocultan al instante.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806440"/>
            <a:ext cx="1072865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978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730A3"/>
                </a:solidFill>
              </a:defRPr>
            </a:pPr>
            <a:r>
              <a:t>🎯 Esta función te permite concentrarte en tus trámites del día a día sin perder acceso a reportes anteriores.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MESA DE AYUDA TI • GRUPO CDM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Paso 5: Comunicación en Tiempo Real (Web &amp; Discord)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663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💻 Chat Integrado en la Web</a:t>
            </a:r>
          </a:p>
          <a:p>
            <a:pPr>
              <a:spcAft>
                <a:spcPts val="800"/>
              </a:spcAft>
              <a:defRPr b="1" sz="1150">
                <a:solidFill>
                  <a:srgbClr val="1E293B"/>
                </a:solidFill>
              </a:defRPr>
            </a:pPr>
            <a:r>
              <a:t>• Conversación directa: </a:t>
            </a:r>
            <a:r>
              <a:rPr b="0">
                <a:solidFill>
                  <a:srgbClr val="475569"/>
                </a:solidFill>
              </a:rPr>
              <a:t>Cada ticket tiene su botón 'Chat con TI' para dialogar directamente con el especialista asignado.</a:t>
            </a:r>
          </a:p>
          <a:p>
            <a:pPr>
              <a:spcAft>
                <a:spcPts val="800"/>
              </a:spcAft>
              <a:defRPr b="1" sz="1150">
                <a:solidFill>
                  <a:srgbClr val="1E293B"/>
                </a:solidFill>
              </a:defRPr>
            </a:pPr>
            <a:r>
              <a:t>• Adjuntar imágenes: </a:t>
            </a:r>
            <a:r>
              <a:rPr b="0">
                <a:solidFill>
                  <a:srgbClr val="475569"/>
                </a:solidFill>
              </a:rPr>
              <a:t>Puedes enviar fotos o capturas adicionales durante la plática para mostrar avances o fallas.</a:t>
            </a:r>
          </a:p>
          <a:p>
            <a:pPr>
              <a:spcAft>
                <a:spcPts val="800"/>
              </a:spcAft>
              <a:defRPr b="1" sz="1150">
                <a:solidFill>
                  <a:srgbClr val="1E293B"/>
                </a:solidFill>
              </a:defRPr>
            </a:pPr>
            <a:r>
              <a:t>• Alertas sonoras y visuales: </a:t>
            </a:r>
            <a:r>
              <a:rPr b="0">
                <a:solidFill>
                  <a:srgbClr val="475569"/>
                </a:solidFill>
              </a:rPr>
              <a:t>El sistema emite un sonido y un aviso emergente (Toast) cuando recibes un nuevo mensaje.</a:t>
            </a:r>
          </a:p>
          <a:p>
            <a:pPr>
              <a:spcAft>
                <a:spcPts val="800"/>
              </a:spcAft>
              <a:defRPr b="1" sz="1150">
                <a:solidFill>
                  <a:srgbClr val="1E293B"/>
                </a:solidFill>
              </a:defRPr>
            </a:pPr>
            <a:r>
              <a:t>• Edición y borrado: </a:t>
            </a:r>
            <a:r>
              <a:rPr b="0">
                <a:solidFill>
                  <a:srgbClr val="475569"/>
                </a:solidFill>
              </a:rPr>
              <a:t>Cuentas con 5 minutos para corregir o retirar mensajes si te equivocaste de texto o imagen.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645920"/>
            <a:ext cx="52120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663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5865F2"/>
                </a:solidFill>
              </a:defRPr>
            </a:pPr>
            <a:r>
              <a:t>💬 Hilos Privados en Discord</a:t>
            </a:r>
          </a:p>
          <a:p>
            <a:pPr>
              <a:spcAft>
                <a:spcPts val="800"/>
              </a:spcAft>
              <a:defRPr b="1" sz="1150">
                <a:solidFill>
                  <a:srgbClr val="1E293B"/>
                </a:solidFill>
              </a:defRPr>
            </a:pPr>
            <a:r>
              <a:t>• Canal exclusivo y confidencial: </a:t>
            </a:r>
            <a:r>
              <a:rPr b="0">
                <a:solidFill>
                  <a:srgbClr val="475569"/>
                </a:solidFill>
              </a:rPr>
              <a:t>Se crea un hilo privado en #tickets-soporte donde únicamente estás tú y el equipo de TI. Nadie más puede verlo.</a:t>
            </a:r>
          </a:p>
          <a:p>
            <a:pPr>
              <a:spcAft>
                <a:spcPts val="800"/>
              </a:spcAft>
              <a:defRPr b="1" sz="1150">
                <a:solidFill>
                  <a:srgbClr val="1E293B"/>
                </a:solidFill>
              </a:defRPr>
            </a:pPr>
            <a:r>
              <a:t>• Sincronización bidireccional: </a:t>
            </a:r>
            <a:r>
              <a:rPr b="0">
                <a:solidFill>
                  <a:srgbClr val="475569"/>
                </a:solidFill>
              </a:rPr>
              <a:t>Si respondes en Discord, el mensaje aparece en la web. Si respondes en la web, aparece en Discord al instante.</a:t>
            </a:r>
          </a:p>
          <a:p>
            <a:pPr>
              <a:spcAft>
                <a:spcPts val="800"/>
              </a:spcAft>
              <a:defRPr b="1" sz="1150">
                <a:solidFill>
                  <a:srgbClr val="1E293B"/>
                </a:solidFill>
              </a:defRPr>
            </a:pPr>
            <a:r>
              <a:t>• Archivado automático: </a:t>
            </a:r>
            <a:r>
              <a:rPr b="0">
                <a:solidFill>
                  <a:srgbClr val="475569"/>
                </a:solidFill>
              </a:rPr>
              <a:t>Al resolverse el ticket, el hilo se bloquea y se archiva para que tu Discord se mantenga limpio.</a:t>
            </a:r>
          </a:p>
          <a:p>
            <a:pPr>
              <a:spcAft>
                <a:spcPts val="800"/>
              </a:spcAft>
              <a:defRPr b="1" sz="1150">
                <a:solidFill>
                  <a:srgbClr val="1E293B"/>
                </a:solidFill>
              </a:defRPr>
            </a:pPr>
            <a:r>
              <a:t>• Reapertura transparente: </a:t>
            </a:r>
            <a:r>
              <a:rPr b="0">
                <a:solidFill>
                  <a:srgbClr val="475569"/>
                </a:solidFill>
              </a:rPr>
              <a:t>Si un ticket se reabre, el hilo de Discord vuelve automáticamente a tu barra lateral activa con todo su historial.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806440"/>
            <a:ext cx="10728655" cy="6400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978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E293B"/>
                </a:solidFill>
              </a:defRPr>
            </a:pPr>
            <a:r>
              <a:t>⚡ Puedes utilizar indistintamente el portal web o Discord; la información siempre estará 100% sincronizada en ambos canales.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MESA DE AYUDA TI • GRUPO CDM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Paso 6: Buenas Prácticas para una Atención Rápida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109728" cy="1874519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0512"/>
            <a:ext cx="4846320" cy="1545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E293B"/>
                </a:solidFill>
              </a:defRPr>
            </a:pPr>
            <a:r>
              <a:t>1. Un ticket por falla</a:t>
            </a:r>
          </a:p>
          <a:p>
            <a:pPr>
              <a:lnSpc>
                <a:spcPct val="125000"/>
              </a:lnSpc>
              <a:defRPr sz="1150">
                <a:solidFill>
                  <a:srgbClr val="475569"/>
                </a:solidFill>
              </a:defRPr>
            </a:pPr>
            <a:r>
              <a:t>Evita agrupar solicitudes distintas en un solo ticket (ej. pedir tóner y reportar un virus). Separarlos permite que el especialista indicado atienda cada necesidad sin retrasos.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095" y="1645920"/>
            <a:ext cx="52120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8095" y="1645920"/>
            <a:ext cx="109728" cy="1874519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4127" y="1810512"/>
            <a:ext cx="4846320" cy="1545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E293B"/>
                </a:solidFill>
              </a:defRPr>
            </a:pPr>
            <a:r>
              <a:t>2. Evidencia clara</a:t>
            </a:r>
          </a:p>
          <a:p>
            <a:pPr>
              <a:lnSpc>
                <a:spcPct val="125000"/>
              </a:lnSpc>
              <a:defRPr sz="1150">
                <a:solidFill>
                  <a:srgbClr val="475569"/>
                </a:solidFill>
              </a:defRPr>
            </a:pPr>
            <a:r>
              <a:t>Incluye fotos o capturas legibles de mensajes de error o del equipo físico. Esto ahorra visitas previas de diagnóstico y acelera la solución.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52120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749039"/>
            <a:ext cx="109728" cy="1874519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13631"/>
            <a:ext cx="4846320" cy="1545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E293B"/>
                </a:solidFill>
              </a:defRPr>
            </a:pPr>
            <a:r>
              <a:t>3. Citas programadas</a:t>
            </a:r>
          </a:p>
          <a:p>
            <a:pPr>
              <a:lnSpc>
                <a:spcPct val="125000"/>
              </a:lnSpc>
              <a:defRPr sz="1150">
                <a:solidFill>
                  <a:srgbClr val="475569"/>
                </a:solidFill>
              </a:defRPr>
            </a:pPr>
            <a:r>
              <a:t>Si tu estatus pasa a 'Pendiente por cliente', revisa la fecha y hora acordada. Asegúrate de estar disponible o avisa por el chat si requieres reprogramarla.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095" y="3749039"/>
            <a:ext cx="52120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8095" y="3749039"/>
            <a:ext cx="109728" cy="1874519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4127" y="3913631"/>
            <a:ext cx="4846320" cy="1545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E293B"/>
                </a:solidFill>
              </a:defRPr>
            </a:pPr>
            <a:r>
              <a:t>4. Revisa tus notificaciones</a:t>
            </a:r>
          </a:p>
          <a:p>
            <a:pPr>
              <a:lnSpc>
                <a:spcPct val="125000"/>
              </a:lnSpc>
              <a:defRPr sz="1150">
                <a:solidFill>
                  <a:srgbClr val="475569"/>
                </a:solidFill>
              </a:defRPr>
            </a:pPr>
            <a:r>
              <a:t>Mantente atento a tus correos o mensajes de Discord para responder dudas del técnico y confirmar si la solución aplicada resolvió tu necesidad.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806440"/>
            <a:ext cx="10728655" cy="6400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978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DC2626"/>
                </a:solidFill>
              </a:defRPr>
            </a:pPr>
            <a:r>
              <a:t>⚠️ Seguridad TI: Sistemas nunca te solicitará tus contraseñas personales o bancarias por chat ni por correo electrónico.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MESA DE AYUDA TI • GRUPO CDM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Preguntas Frecuentes de los Usuarios (FAQ)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55648"/>
            <a:ext cx="10241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E293B"/>
                </a:solidFill>
              </a:defRPr>
            </a:pPr>
            <a:r>
              <a:t>❓ ¿Puedo modificar o cancelar un ticket que acabo de levantar?</a:t>
            </a:r>
          </a:p>
          <a:p>
            <a:pPr>
              <a:defRPr sz="1150">
                <a:solidFill>
                  <a:srgbClr val="475569"/>
                </a:solidFill>
              </a:defRPr>
            </a:pPr>
            <a:r>
              <a:t>   👉 Sí. Mientras el ticket permanezca en estatus 'Nuevo ticket' y no haya sido tomado aún por un técnico, puedes editar su contenido o retirarlo.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10728655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61488"/>
            <a:ext cx="10241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E293B"/>
                </a:solidFill>
              </a:defRPr>
            </a:pPr>
            <a:r>
              <a:t>❓ ¿Qué hago si mi problema sigue presentándose después de que lo marcaron como Resuelto?</a:t>
            </a:r>
          </a:p>
          <a:p>
            <a:pPr>
              <a:defRPr sz="1150">
                <a:solidFill>
                  <a:srgbClr val="475569"/>
                </a:solidFill>
              </a:defRPr>
            </a:pPr>
            <a:r>
              <a:t>   👉 Envía un mensaje en el chat del ticket o solicita a Sistemas que lo reabran. El ticket pasará a 'Pendiente/En proceso' y se reactivará de inmediato.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657600"/>
            <a:ext cx="10728655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767328"/>
            <a:ext cx="10241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E293B"/>
                </a:solidFill>
              </a:defRPr>
            </a:pPr>
            <a:r>
              <a:t>❓ ¿Cómo sé a qué hora vendrá el técnico a revisar mi equipo?</a:t>
            </a:r>
          </a:p>
          <a:p>
            <a:pPr>
              <a:defRPr sz="1150">
                <a:solidFill>
                  <a:srgbClr val="475569"/>
                </a:solidFill>
              </a:defRPr>
            </a:pPr>
            <a:r>
              <a:t>   👉 Cuando el ticket pasa a 'Pendiente por cliente', verás en tu panel una tarjeta destacada con la fecha y hora de la cita acordada.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728655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773168"/>
            <a:ext cx="10241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E293B"/>
                </a:solidFill>
              </a:defRPr>
            </a:pPr>
            <a:r>
              <a:t>❓ ¿Por qué no veo mis tickets resueltos en Discord?</a:t>
            </a:r>
          </a:p>
          <a:p>
            <a:pPr>
              <a:defRPr sz="1150">
                <a:solidFill>
                  <a:srgbClr val="475569"/>
                </a:solidFill>
              </a:defRPr>
            </a:pPr>
            <a:r>
              <a:t>   👉 Para no saturar tu barra lateral, Discord los archiva. Puedes consultarlos en cualquier momento en el botón de Hilos (🧵) &gt; pestaña 'Archivados'.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806440"/>
            <a:ext cx="10728655" cy="640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978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E293B"/>
                </a:solidFill>
              </a:defRPr>
            </a:pPr>
            <a:r>
              <a:t>💡 Para más soluciones inmediatas, consulta la sección de 'Guías Rápidas' ubicada en la barra lateral de tu panel web.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DC2626"/>
                </a:solidFill>
              </a:defRPr>
            </a:pPr>
            <a:r>
              <a:t>DEPARTAMENTO DE SISTEMAS TI • GRUPO CDM</a:t>
            </a:r>
          </a:p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¡Estamos para apoyarte!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Nuestro compromiso es brindarte un servicio tecnológico confiable, ágil y ordenado para que desempeñes tus labores sin contratiempos.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566160"/>
            <a:ext cx="31546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3566160"/>
            <a:ext cx="3154680" cy="914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840480"/>
            <a:ext cx="2788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</a:defRPr>
            </a:pPr>
            <a:r>
              <a:t>🌐 Portal Web Oficial</a:t>
            </a:r>
          </a:p>
          <a:p>
            <a:pPr>
              <a:lnSpc>
                <a:spcPct val="130000"/>
              </a:lnSpc>
              <a:defRPr sz="1150">
                <a:solidFill>
                  <a:srgbClr val="CBD5E1"/>
                </a:solidFill>
              </a:defRPr>
            </a:pPr>
            <a:r>
              <a:t>Ingresa desde cualquier equipo corporativo para levantar y monitorear tus tickets.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98848" y="3566160"/>
            <a:ext cx="31546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98848" y="3566160"/>
            <a:ext cx="3154680" cy="91440"/>
          </a:xfrm>
          <a:prstGeom prst="rect">
            <a:avLst/>
          </a:prstGeom>
          <a:solidFill>
            <a:srgbClr val="5865F2"/>
          </a:solidFill>
          <a:ln>
            <a:solidFill>
              <a:srgbClr val="586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3840480"/>
            <a:ext cx="2788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</a:defRPr>
            </a:pPr>
            <a:r>
              <a:t>💬 Servidor de Discord</a:t>
            </a:r>
          </a:p>
          <a:p>
            <a:pPr>
              <a:lnSpc>
                <a:spcPct val="130000"/>
              </a:lnSpc>
              <a:defRPr sz="1150">
                <a:solidFill>
                  <a:srgbClr val="CBD5E1"/>
                </a:solidFill>
              </a:defRPr>
            </a:pPr>
            <a:r>
              <a:t>Participa en el canal #tickets-soporte para seguimiento y chat directo con el técnico.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0416" y="3566160"/>
            <a:ext cx="31546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0416" y="3566160"/>
            <a:ext cx="3154680" cy="91440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3296" y="3840480"/>
            <a:ext cx="2788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</a:defRPr>
            </a:pPr>
            <a:r>
              <a:t>✉️ Correo de Notificaciones</a:t>
            </a:r>
          </a:p>
          <a:p>
            <a:pPr>
              <a:lnSpc>
                <a:spcPct val="130000"/>
              </a:lnSpc>
              <a:defRPr sz="1150">
                <a:solidFill>
                  <a:srgbClr val="CBD5E1"/>
                </a:solidFill>
              </a:defRPr>
            </a:pPr>
            <a:r>
              <a:t>Recibe alertas automáticas de apertura, citas agendadas y resolución de tus reportes.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